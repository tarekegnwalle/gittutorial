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c53d78b-4c23-08ea-cd79-188c99cef3c2}">
          <p14:sldIdLst>
            <p14:sldId id="256"/>
            <p14:sldId id="257"/>
            <p14:sldId id="258"/>
          </p14:sldIdLst>
        </p14:section>
        <p14:section name="Figma tools" id="{516544f0-89b1-bf7c-8798-720a8b1e0fc2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orkflow" id="{dab51d0b-69cb-dae3-6e95-e2f261e3e72e}">
          <p14:sldIdLst>
            <p14:sldId id="266"/>
            <p14:sldId id="267"/>
          </p14:sldIdLst>
        </p14:section>
        <p14:section name="Wrap-up" id="{f404a3ca-aa99-433a-f265-5663a60c4b99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6751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72"/>
                </a:solidFill>
              </a:rPr>
              <a:t>Figma Basics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Figma Basics: Wireframe, Mockup &amp; Prototype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Tools, frames, shapes and font styles explained step by step</a:t>
            </a:r>
            <a:endParaRPr lang="en-US" sz="2000" dirty="0"/>
          </a:p>
        </p:txBody>
      </p:sp>
      <p:sp>
        <p:nvSpPr>
          <p:cNvPr id="4" name="Desktop frame"/>
          <p:cNvSpPr/>
          <p:nvPr/>
        </p:nvSpPr>
        <p:spPr>
          <a:xfrm>
            <a:off x="7680960" y="1371600"/>
            <a:ext cx="384048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</p:spPr>
      </p:sp>
      <p:sp>
        <p:nvSpPr>
          <p:cNvPr id="5" name="Wire header"/>
          <p:cNvSpPr/>
          <p:nvPr/>
        </p:nvSpPr>
        <p:spPr>
          <a:xfrm>
            <a:off x="7772400" y="1463040"/>
            <a:ext cx="3657600" cy="1828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6" name="Wire image"/>
          <p:cNvSpPr/>
          <p:nvPr/>
        </p:nvSpPr>
        <p:spPr>
          <a:xfrm>
            <a:off x="7772400" y="1737360"/>
            <a:ext cx="1783080" cy="22402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Wire text"/>
          <p:cNvSpPr/>
          <p:nvPr/>
        </p:nvSpPr>
        <p:spPr>
          <a:xfrm>
            <a:off x="9646920" y="1783080"/>
            <a:ext cx="169164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8" name="Wire text"/>
          <p:cNvSpPr/>
          <p:nvPr/>
        </p:nvSpPr>
        <p:spPr>
          <a:xfrm>
            <a:off x="9646920" y="2011680"/>
            <a:ext cx="169164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9" name="Wire text"/>
          <p:cNvSpPr/>
          <p:nvPr/>
        </p:nvSpPr>
        <p:spPr>
          <a:xfrm>
            <a:off x="9646920" y="2240280"/>
            <a:ext cx="169164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0" name="Wire text"/>
          <p:cNvSpPr/>
          <p:nvPr/>
        </p:nvSpPr>
        <p:spPr>
          <a:xfrm>
            <a:off x="9646920" y="2468880"/>
            <a:ext cx="169164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1" name="Phone frame"/>
          <p:cNvSpPr/>
          <p:nvPr/>
        </p:nvSpPr>
        <p:spPr>
          <a:xfrm>
            <a:off x="9966960" y="2651760"/>
            <a:ext cx="1554480" cy="33832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2" name="Wire header"/>
          <p:cNvSpPr/>
          <p:nvPr/>
        </p:nvSpPr>
        <p:spPr>
          <a:xfrm>
            <a:off x="10058400" y="2743200"/>
            <a:ext cx="1371600" cy="1828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3" name="Wire image"/>
          <p:cNvSpPr/>
          <p:nvPr/>
        </p:nvSpPr>
        <p:spPr>
          <a:xfrm>
            <a:off x="10058400" y="3017520"/>
            <a:ext cx="1371600" cy="101498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Wire text"/>
          <p:cNvSpPr/>
          <p:nvPr/>
        </p:nvSpPr>
        <p:spPr>
          <a:xfrm>
            <a:off x="10058400" y="4169664"/>
            <a:ext cx="137160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5" name="Wire text"/>
          <p:cNvSpPr/>
          <p:nvPr/>
        </p:nvSpPr>
        <p:spPr>
          <a:xfrm>
            <a:off x="10058400" y="4370832"/>
            <a:ext cx="137160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6" name="Wire text"/>
          <p:cNvSpPr/>
          <p:nvPr/>
        </p:nvSpPr>
        <p:spPr>
          <a:xfrm>
            <a:off x="10058400" y="4572000"/>
            <a:ext cx="68580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7" name="Wire button"/>
          <p:cNvSpPr/>
          <p:nvPr/>
        </p:nvSpPr>
        <p:spPr>
          <a:xfrm>
            <a:off x="10058400" y="5623560"/>
            <a:ext cx="1371600" cy="256032"/>
          </a:xfrm>
          <a:prstGeom prst="rect">
            <a:avLst/>
          </a:prstGeom>
          <a:solidFill>
            <a:srgbClr val="BDBDB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three stages of design</a:t>
            </a:r>
            <a:endParaRPr lang="en-US" sz="3600" dirty="0"/>
          </a:p>
        </p:txBody>
      </p:sp>
      <p:sp>
        <p:nvSpPr>
          <p:cNvPr id="3" name="Card Wireframe"/>
          <p:cNvSpPr/>
          <p:nvPr/>
        </p:nvSpPr>
        <p:spPr>
          <a:xfrm>
            <a:off x="548640" y="1554480"/>
            <a:ext cx="3474720" cy="448056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5A72"/>
                </a:solidFill>
              </a:rPr>
              <a:t>STAGE 1</a:t>
            </a:r>
            <a:endParaRPr lang="en-US" sz="1200" dirty="0"/>
          </a:p>
        </p:txBody>
      </p:sp>
      <p:sp>
        <p:nvSpPr>
          <p:cNvPr id="5" name="Icon circle"/>
          <p:cNvSpPr/>
          <p:nvPr/>
        </p:nvSpPr>
        <p:spPr>
          <a:xfrm>
            <a:off x="868680" y="228600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514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383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Wireframe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skeleton. Simple boxes, lines and placeholder text decide where the header, buttons, images and text go.</a:t>
            </a:r>
            <a:endParaRPr lang="en-US" sz="1500" dirty="0"/>
          </a:p>
        </p:txBody>
      </p:sp>
      <p:sp>
        <p:nvSpPr>
          <p:cNvPr id="9" name="Chip"/>
          <p:cNvSpPr/>
          <p:nvPr/>
        </p:nvSpPr>
        <p:spPr>
          <a:xfrm>
            <a:off x="868680" y="5303520"/>
            <a:ext cx="283464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303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Grey boxes · placeholder text</a:t>
            </a:r>
            <a:endParaRPr lang="en-US" sz="1400" dirty="0"/>
          </a:p>
        </p:txBody>
      </p:sp>
      <p:sp>
        <p:nvSpPr>
          <p:cNvPr id="11" name="Card Mockup"/>
          <p:cNvSpPr/>
          <p:nvPr/>
        </p:nvSpPr>
        <p:spPr>
          <a:xfrm>
            <a:off x="4343400" y="1554480"/>
            <a:ext cx="3474720" cy="448056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6344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5A72"/>
                </a:solidFill>
              </a:rPr>
              <a:t>STAGE 2</a:t>
            </a:r>
            <a:endParaRPr lang="en-US" sz="1200" dirty="0"/>
          </a:p>
        </p:txBody>
      </p:sp>
      <p:sp>
        <p:nvSpPr>
          <p:cNvPr id="13" name="Icon circle"/>
          <p:cNvSpPr/>
          <p:nvPr/>
        </p:nvSpPr>
        <p:spPr>
          <a:xfrm>
            <a:off x="4663440" y="22860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5146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63440" y="3383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Mockup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visual design. Colors, real fonts, images, icons and spacing, so it looks finished but cannot be clicked.</a:t>
            </a:r>
            <a:endParaRPr lang="en-US" sz="1500" dirty="0"/>
          </a:p>
        </p:txBody>
      </p:sp>
      <p:sp>
        <p:nvSpPr>
          <p:cNvPr id="17" name="Chip"/>
          <p:cNvSpPr/>
          <p:nvPr/>
        </p:nvSpPr>
        <p:spPr>
          <a:xfrm>
            <a:off x="4663440" y="5303520"/>
            <a:ext cx="283464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663440" y="5303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Colors · fonts · real images</a:t>
            </a:r>
            <a:endParaRPr lang="en-US" sz="1400" dirty="0"/>
          </a:p>
        </p:txBody>
      </p:sp>
      <p:sp>
        <p:nvSpPr>
          <p:cNvPr id="19" name="Card Prototype"/>
          <p:cNvSpPr/>
          <p:nvPr/>
        </p:nvSpPr>
        <p:spPr>
          <a:xfrm>
            <a:off x="8138160" y="1554480"/>
            <a:ext cx="3474720" cy="448056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845820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5A72"/>
                </a:solidFill>
              </a:rPr>
              <a:t>STAGE 3</a:t>
            </a:r>
            <a:endParaRPr lang="en-US" sz="1200" dirty="0"/>
          </a:p>
        </p:txBody>
      </p:sp>
      <p:sp>
        <p:nvSpPr>
          <p:cNvPr id="21" name="Icon circle"/>
          <p:cNvSpPr/>
          <p:nvPr/>
        </p:nvSpPr>
        <p:spPr>
          <a:xfrm>
            <a:off x="8458200" y="22860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5146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58200" y="3383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Prototype</a:t>
            </a:r>
            <a:endParaRPr lang="en-US" sz="2800" dirty="0"/>
          </a:p>
        </p:txBody>
      </p:sp>
      <p:sp>
        <p:nvSpPr>
          <p:cNvPr id="24" name="Text 19"/>
          <p:cNvSpPr txBox="1"/>
          <p:nvPr/>
        </p:nvSpPr>
        <p:spPr>
          <a:xfrm>
            <a:off x="845820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interactive version. Connect screens so people can tap or click and move through it like the real app.</a:t>
            </a:r>
            <a:endParaRPr lang="en-US" sz="1500" dirty="0"/>
          </a:p>
        </p:txBody>
      </p:sp>
      <p:sp>
        <p:nvSpPr>
          <p:cNvPr id="25" name="Chip"/>
          <p:cNvSpPr/>
          <p:nvPr/>
        </p:nvSpPr>
        <p:spPr>
          <a:xfrm>
            <a:off x="8458200" y="5303520"/>
            <a:ext cx="283464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458200" y="5303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Clickable · screen to screen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Wireframe vs mockup vs prototype</a:t>
            </a:r>
            <a:endParaRPr lang="en-US" sz="3600" dirty="0"/>
          </a:p>
        </p:txBody>
      </p:sp>
      <p:graphicFrame>
        <p:nvGraphicFramePr>
          <p:cNvPr id="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1737360"/>
                <a:gridCol w="1645920"/>
                <a:gridCol w="41148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Colors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Real content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Clickable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Main goal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1B2E"/>
                          </a:solidFill>
                        </a:rPr>
                        <a:t>Wireframe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3361A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3361A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3361A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Layout and structure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1B2E"/>
                          </a:solidFill>
                        </a:rPr>
                        <a:t>Mockup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7A54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7A54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3361A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Look and feel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1B2E"/>
                          </a:solidFill>
                        </a:rPr>
                        <a:t>Prototype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7A54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7A54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7A54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Flow and behavior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rder callout"/>
          <p:cNvSpPr/>
          <p:nvPr/>
        </p:nvSpPr>
        <p:spPr>
          <a:xfrm>
            <a:off x="548640" y="4754880"/>
            <a:ext cx="1106424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47548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Order of work:   </a:t>
            </a:r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Wireframe  →  Mockup  →  Prototype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Frames: your canvas</a:t>
            </a:r>
            <a:endParaRPr lang="en-US" sz="3600" dirty="0"/>
          </a:p>
        </p:txBody>
      </p:sp>
      <p:sp>
        <p:nvSpPr>
          <p:cNvPr id="3" name="Badge 1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36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Press F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Select the Frame tool, then pick a device preset on the right.</a:t>
            </a:r>
            <a:endParaRPr lang="en-US" sz="1500" dirty="0"/>
          </a:p>
        </p:txBody>
      </p:sp>
      <p:sp>
        <p:nvSpPr>
          <p:cNvPr id="7" name="Badge 2"/>
          <p:cNvSpPr/>
          <p:nvPr/>
        </p:nvSpPr>
        <p:spPr>
          <a:xfrm>
            <a:off x="548640" y="272491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06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 container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906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Everything you design lives inside it, and objects move together.</a:t>
            </a:r>
            <a:endParaRPr lang="en-US" sz="1500" dirty="0"/>
          </a:p>
        </p:txBody>
      </p:sp>
      <p:sp>
        <p:nvSpPr>
          <p:cNvPr id="11" name="Badge 3"/>
          <p:cNvSpPr/>
          <p:nvPr/>
        </p:nvSpPr>
        <p:spPr>
          <a:xfrm>
            <a:off x="548640" y="3895344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953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8770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Clips content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2611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Anything that goes outside the frame edge is hidden.</a:t>
            </a:r>
            <a:endParaRPr lang="en-US" sz="1500" dirty="0"/>
          </a:p>
        </p:txBody>
      </p:sp>
      <p:sp>
        <p:nvSpPr>
          <p:cNvPr id="15" name="Badge 4"/>
          <p:cNvSpPr/>
          <p:nvPr/>
        </p:nvSpPr>
        <p:spPr>
          <a:xfrm>
            <a:off x="548640" y="5065776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65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Can be nested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43153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Put a card frame inside a screen frame. Each has its own fill, radius and grid.</a:t>
            </a:r>
            <a:endParaRPr lang="en-US" sz="1500" dirty="0"/>
          </a:p>
        </p:txBody>
      </p:sp>
      <p:sp>
        <p:nvSpPr>
          <p:cNvPr id="19" name="Device panel"/>
          <p:cNvSpPr/>
          <p:nvPr/>
        </p:nvSpPr>
        <p:spPr>
          <a:xfrm>
            <a:off x="6675120" y="1554480"/>
            <a:ext cx="493776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Desktop"/>
          <p:cNvSpPr/>
          <p:nvPr/>
        </p:nvSpPr>
        <p:spPr>
          <a:xfrm>
            <a:off x="7040880" y="2103120"/>
            <a:ext cx="2926080" cy="201168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1" name="Wire header"/>
          <p:cNvSpPr/>
          <p:nvPr/>
        </p:nvSpPr>
        <p:spPr>
          <a:xfrm>
            <a:off x="7132320" y="2194560"/>
            <a:ext cx="2743200" cy="1828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2" name="Wire image"/>
          <p:cNvSpPr/>
          <p:nvPr/>
        </p:nvSpPr>
        <p:spPr>
          <a:xfrm>
            <a:off x="7132320" y="2468880"/>
            <a:ext cx="1325880" cy="15087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Wire text"/>
          <p:cNvSpPr/>
          <p:nvPr/>
        </p:nvSpPr>
        <p:spPr>
          <a:xfrm>
            <a:off x="8549640" y="2514600"/>
            <a:ext cx="123444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4" name="Wire text"/>
          <p:cNvSpPr/>
          <p:nvPr/>
        </p:nvSpPr>
        <p:spPr>
          <a:xfrm>
            <a:off x="8549640" y="2743200"/>
            <a:ext cx="123444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5" name="Wire text"/>
          <p:cNvSpPr/>
          <p:nvPr/>
        </p:nvSpPr>
        <p:spPr>
          <a:xfrm>
            <a:off x="8549640" y="2971800"/>
            <a:ext cx="123444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6" name="Wire text"/>
          <p:cNvSpPr/>
          <p:nvPr/>
        </p:nvSpPr>
        <p:spPr>
          <a:xfrm>
            <a:off x="8549640" y="3200400"/>
            <a:ext cx="123444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7" name="Stand"/>
          <p:cNvSpPr/>
          <p:nvPr/>
        </p:nvSpPr>
        <p:spPr>
          <a:xfrm>
            <a:off x="8275320" y="4114800"/>
            <a:ext cx="45720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8" name="Base"/>
          <p:cNvSpPr/>
          <p:nvPr/>
        </p:nvSpPr>
        <p:spPr>
          <a:xfrm>
            <a:off x="7863840" y="4343400"/>
            <a:ext cx="128016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9" name="Phone"/>
          <p:cNvSpPr/>
          <p:nvPr/>
        </p:nvSpPr>
        <p:spPr>
          <a:xfrm>
            <a:off x="10332720" y="1828800"/>
            <a:ext cx="1097280" cy="237744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0" name="Wire header"/>
          <p:cNvSpPr/>
          <p:nvPr/>
        </p:nvSpPr>
        <p:spPr>
          <a:xfrm>
            <a:off x="10424160" y="1920240"/>
            <a:ext cx="914400" cy="1828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1" name="Wire image"/>
          <p:cNvSpPr/>
          <p:nvPr/>
        </p:nvSpPr>
        <p:spPr>
          <a:xfrm>
            <a:off x="10424160" y="2194560"/>
            <a:ext cx="914400" cy="7132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Wire text"/>
          <p:cNvSpPr/>
          <p:nvPr/>
        </p:nvSpPr>
        <p:spPr>
          <a:xfrm>
            <a:off x="10424160" y="3044952"/>
            <a:ext cx="91440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3" name="Wire text"/>
          <p:cNvSpPr/>
          <p:nvPr/>
        </p:nvSpPr>
        <p:spPr>
          <a:xfrm>
            <a:off x="10424160" y="3246120"/>
            <a:ext cx="91440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4" name="Wire text"/>
          <p:cNvSpPr/>
          <p:nvPr/>
        </p:nvSpPr>
        <p:spPr>
          <a:xfrm>
            <a:off x="10424160" y="3447288"/>
            <a:ext cx="457200" cy="914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5" name="Wire button"/>
          <p:cNvSpPr/>
          <p:nvPr/>
        </p:nvSpPr>
        <p:spPr>
          <a:xfrm>
            <a:off x="10424160" y="3794760"/>
            <a:ext cx="914400" cy="256032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04088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Desktop frame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1440 × 1024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0" y="4754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Phone frame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393 × 852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040880" y="5577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Pick the frame that matches your target device.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Frame presets by device</a:t>
            </a:r>
            <a:endParaRPr lang="en-US" sz="3600" dirty="0"/>
          </a:p>
        </p:txBody>
      </p:sp>
      <p:sp>
        <p:nvSpPr>
          <p:cNvPr id="3" name="Card Phone"/>
          <p:cNvSpPr/>
          <p:nvPr/>
        </p:nvSpPr>
        <p:spPr>
          <a:xfrm>
            <a:off x="548640" y="1463040"/>
            <a:ext cx="3474720" cy="402336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9888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Phone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68680" y="2971800"/>
            <a:ext cx="283464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iPhone 15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393 × 852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3703320"/>
            <a:ext cx="283464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Android Large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377440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360 × 800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8680" y="4434840"/>
            <a:ext cx="283464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526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iPhone SE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37744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375 × 667</a:t>
            </a:r>
            <a:endParaRPr lang="en-US" sz="1600" dirty="0"/>
          </a:p>
        </p:txBody>
      </p:sp>
      <p:sp>
        <p:nvSpPr>
          <p:cNvPr id="16" name="Card Tablet"/>
          <p:cNvSpPr/>
          <p:nvPr/>
        </p:nvSpPr>
        <p:spPr>
          <a:xfrm>
            <a:off x="4343400" y="1463040"/>
            <a:ext cx="3474720" cy="402336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4663440" y="17830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198882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66928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Tablet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4663440" y="2971800"/>
            <a:ext cx="283464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66344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iPad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17220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820 × 1180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663440" y="3703320"/>
            <a:ext cx="283464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66344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iPad mini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172200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744 × 1133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663440" y="4434840"/>
            <a:ext cx="283464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663440" y="4526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iPad Pro 11"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617220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834 × 1194</a:t>
            </a:r>
            <a:endParaRPr lang="en-US" sz="1600" dirty="0"/>
          </a:p>
        </p:txBody>
      </p:sp>
      <p:sp>
        <p:nvSpPr>
          <p:cNvPr id="29" name="Card Desktop"/>
          <p:cNvSpPr/>
          <p:nvPr/>
        </p:nvSpPr>
        <p:spPr>
          <a:xfrm>
            <a:off x="8138160" y="1463040"/>
            <a:ext cx="3474720" cy="402336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Icon circle"/>
          <p:cNvSpPr/>
          <p:nvPr/>
        </p:nvSpPr>
        <p:spPr>
          <a:xfrm>
            <a:off x="8458200" y="17830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1988820"/>
            <a:ext cx="411480" cy="41148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46404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Desktop</a:t>
            </a:r>
            <a:endParaRPr lang="en-US" sz="2800" dirty="0"/>
          </a:p>
        </p:txBody>
      </p:sp>
      <p:sp>
        <p:nvSpPr>
          <p:cNvPr id="33" name="Shape 28"/>
          <p:cNvSpPr/>
          <p:nvPr/>
        </p:nvSpPr>
        <p:spPr>
          <a:xfrm>
            <a:off x="8458200" y="2971800"/>
            <a:ext cx="283464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45820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Desktop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996696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1440 × 1024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8458200" y="3703320"/>
            <a:ext cx="283464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45820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MacBook</a:t>
            </a:r>
            <a:endParaRPr lang="en-US" sz="1600" dirty="0"/>
          </a:p>
        </p:txBody>
      </p:sp>
      <p:sp>
        <p:nvSpPr>
          <p:cNvPr id="38" name="Text 33"/>
          <p:cNvSpPr txBox="1"/>
          <p:nvPr/>
        </p:nvSpPr>
        <p:spPr>
          <a:xfrm>
            <a:off x="9966960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1440 × 900</a:t>
            </a:r>
            <a:endParaRPr lang="en-US" sz="1600" dirty="0"/>
          </a:p>
        </p:txBody>
      </p:sp>
      <p:sp>
        <p:nvSpPr>
          <p:cNvPr id="39" name="Shape 34"/>
          <p:cNvSpPr/>
          <p:nvPr/>
        </p:nvSpPr>
        <p:spPr>
          <a:xfrm>
            <a:off x="8458200" y="4434840"/>
            <a:ext cx="283464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58200" y="4526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Full HD</a:t>
            </a:r>
            <a:endParaRPr lang="en-US" sz="1600" dirty="0"/>
          </a:p>
        </p:txBody>
      </p:sp>
      <p:sp>
        <p:nvSpPr>
          <p:cNvPr id="41" name="Text 36"/>
          <p:cNvSpPr txBox="1"/>
          <p:nvPr/>
        </p:nvSpPr>
        <p:spPr>
          <a:xfrm>
            <a:off x="996696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1920 × 1080</a:t>
            </a:r>
            <a:endParaRPr lang="en-US" sz="1600" dirty="0"/>
          </a:p>
        </p:txBody>
      </p:sp>
      <p:sp>
        <p:nvSpPr>
          <p:cNvPr id="42" name="Text 37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A72"/>
                </a:solidFill>
              </a:rPr>
              <a:t>Need something else? Type your own width (W) and height (H) for a custom frame.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Layout grid and Auto Layout</a:t>
            </a:r>
            <a:endParaRPr lang="en-US" sz="3600" dirty="0"/>
          </a:p>
        </p:txBody>
      </p:sp>
      <p:sp>
        <p:nvSpPr>
          <p:cNvPr id="3" name="Layout grid card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Layout grid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Select a frame, then click + next to Layout grid. Choose Grid, Columns or Rows.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Phone: 4 columns</a:t>
            </a:r>
            <a:endParaRPr lang="en-US" sz="1400" dirty="0"/>
          </a:p>
        </p:txBody>
      </p:sp>
      <p:sp>
        <p:nvSpPr>
          <p:cNvPr id="7" name="Column"/>
          <p:cNvSpPr/>
          <p:nvPr/>
        </p:nvSpPr>
        <p:spPr>
          <a:xfrm>
            <a:off x="822960" y="3520440"/>
            <a:ext cx="100584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8" name="Column"/>
          <p:cNvSpPr/>
          <p:nvPr/>
        </p:nvSpPr>
        <p:spPr>
          <a:xfrm>
            <a:off x="2103120" y="3520440"/>
            <a:ext cx="100584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9" name="Column"/>
          <p:cNvSpPr/>
          <p:nvPr/>
        </p:nvSpPr>
        <p:spPr>
          <a:xfrm>
            <a:off x="3383280" y="3520440"/>
            <a:ext cx="100584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0" name="Column"/>
          <p:cNvSpPr/>
          <p:nvPr/>
        </p:nvSpPr>
        <p:spPr>
          <a:xfrm>
            <a:off x="4663440" y="3520440"/>
            <a:ext cx="100584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Desktop: 12 columns</a:t>
            </a:r>
            <a:endParaRPr lang="en-US" sz="1400" dirty="0"/>
          </a:p>
        </p:txBody>
      </p:sp>
      <p:sp>
        <p:nvSpPr>
          <p:cNvPr id="12" name="Column"/>
          <p:cNvSpPr/>
          <p:nvPr/>
        </p:nvSpPr>
        <p:spPr>
          <a:xfrm>
            <a:off x="822960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3" name="Column"/>
          <p:cNvSpPr/>
          <p:nvPr/>
        </p:nvSpPr>
        <p:spPr>
          <a:xfrm>
            <a:off x="1238555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4" name="Column"/>
          <p:cNvSpPr/>
          <p:nvPr/>
        </p:nvSpPr>
        <p:spPr>
          <a:xfrm>
            <a:off x="1654150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5" name="Column"/>
          <p:cNvSpPr/>
          <p:nvPr/>
        </p:nvSpPr>
        <p:spPr>
          <a:xfrm>
            <a:off x="2069744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6" name="Column"/>
          <p:cNvSpPr/>
          <p:nvPr/>
        </p:nvSpPr>
        <p:spPr>
          <a:xfrm>
            <a:off x="2485339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7" name="Column"/>
          <p:cNvSpPr/>
          <p:nvPr/>
        </p:nvSpPr>
        <p:spPr>
          <a:xfrm>
            <a:off x="2900934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8" name="Column"/>
          <p:cNvSpPr/>
          <p:nvPr/>
        </p:nvSpPr>
        <p:spPr>
          <a:xfrm>
            <a:off x="3316529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9" name="Column"/>
          <p:cNvSpPr/>
          <p:nvPr/>
        </p:nvSpPr>
        <p:spPr>
          <a:xfrm>
            <a:off x="3732124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0" name="Column"/>
          <p:cNvSpPr/>
          <p:nvPr/>
        </p:nvSpPr>
        <p:spPr>
          <a:xfrm>
            <a:off x="4147718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1" name="Column"/>
          <p:cNvSpPr/>
          <p:nvPr/>
        </p:nvSpPr>
        <p:spPr>
          <a:xfrm>
            <a:off x="4563313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2" name="Column"/>
          <p:cNvSpPr/>
          <p:nvPr/>
        </p:nvSpPr>
        <p:spPr>
          <a:xfrm>
            <a:off x="4978908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3" name="Column"/>
          <p:cNvSpPr/>
          <p:nvPr/>
        </p:nvSpPr>
        <p:spPr>
          <a:xfrm>
            <a:off x="5394503" y="4892040"/>
            <a:ext cx="274320" cy="7315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4" name="Auto layout card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9224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Auto Layout  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Shift + A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Elements arrange and resize themselves, like a list of buttons with equal spacing.</a:t>
            </a:r>
            <a:endParaRPr lang="en-US" sz="1500" dirty="0"/>
          </a:p>
        </p:txBody>
      </p:sp>
      <p:sp>
        <p:nvSpPr>
          <p:cNvPr id="27" name="Auto layout container"/>
          <p:cNvSpPr/>
          <p:nvPr/>
        </p:nvSpPr>
        <p:spPr>
          <a:xfrm>
            <a:off x="6492240" y="3200400"/>
            <a:ext cx="2377440" cy="265176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28" name="Button"/>
          <p:cNvSpPr/>
          <p:nvPr/>
        </p:nvSpPr>
        <p:spPr>
          <a:xfrm>
            <a:off x="6675120" y="338328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7512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Button 1</a:t>
            </a:r>
            <a:endParaRPr lang="en-US" sz="1400" dirty="0"/>
          </a:p>
        </p:txBody>
      </p:sp>
      <p:sp>
        <p:nvSpPr>
          <p:cNvPr id="30" name="Button"/>
          <p:cNvSpPr/>
          <p:nvPr/>
        </p:nvSpPr>
        <p:spPr>
          <a:xfrm>
            <a:off x="6675120" y="420624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7512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Button 2</a:t>
            </a:r>
            <a:endParaRPr lang="en-US" sz="1400" dirty="0"/>
          </a:p>
        </p:txBody>
      </p:sp>
      <p:sp>
        <p:nvSpPr>
          <p:cNvPr id="32" name="Button"/>
          <p:cNvSpPr/>
          <p:nvPr/>
        </p:nvSpPr>
        <p:spPr>
          <a:xfrm>
            <a:off x="6675120" y="502920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75120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Button 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0" y="32004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Direction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Horizontal or vertical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Spacing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Gap between items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Padding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Space inside the box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Shape tools</a:t>
            </a:r>
            <a:endParaRPr lang="en-US" sz="3600" dirty="0"/>
          </a:p>
        </p:txBody>
      </p:sp>
      <p:sp>
        <p:nvSpPr>
          <p:cNvPr id="3" name="Card Rectangle"/>
          <p:cNvSpPr/>
          <p:nvPr/>
        </p:nvSpPr>
        <p:spPr>
          <a:xfrm>
            <a:off x="548640" y="155448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ample"/>
          <p:cNvSpPr/>
          <p:nvPr/>
        </p:nvSpPr>
        <p:spPr>
          <a:xfrm>
            <a:off x="822960" y="2148840"/>
            <a:ext cx="1097280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48840" y="1828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Rectangle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2240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Buttons, cards, backgrounds, image placeholders</a:t>
            </a:r>
            <a:endParaRPr lang="en-US" sz="1400" dirty="0"/>
          </a:p>
        </p:txBody>
      </p:sp>
      <p:sp>
        <p:nvSpPr>
          <p:cNvPr id="8" name="Card Ellipse"/>
          <p:cNvSpPr/>
          <p:nvPr/>
        </p:nvSpPr>
        <p:spPr>
          <a:xfrm>
            <a:off x="4343400" y="155448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ample"/>
          <p:cNvSpPr/>
          <p:nvPr/>
        </p:nvSpPr>
        <p:spPr>
          <a:xfrm>
            <a:off x="4617720" y="205740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828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Ellipse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240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Circles for avatars, radio buttons, icons</a:t>
            </a:r>
            <a:endParaRPr lang="en-US" sz="1400" dirty="0"/>
          </a:p>
        </p:txBody>
      </p:sp>
      <p:sp>
        <p:nvSpPr>
          <p:cNvPr id="13" name="Card Line"/>
          <p:cNvSpPr/>
          <p:nvPr/>
        </p:nvSpPr>
        <p:spPr>
          <a:xfrm>
            <a:off x="8138160" y="155448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ample"/>
          <p:cNvSpPr/>
          <p:nvPr/>
        </p:nvSpPr>
        <p:spPr>
          <a:xfrm>
            <a:off x="8412480" y="2606040"/>
            <a:ext cx="109728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38360" y="1828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Line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738360" y="2240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Dividers and separators</a:t>
            </a:r>
            <a:endParaRPr lang="en-US" sz="1400" dirty="0"/>
          </a:p>
        </p:txBody>
      </p:sp>
      <p:sp>
        <p:nvSpPr>
          <p:cNvPr id="18" name="Card Arrow"/>
          <p:cNvSpPr/>
          <p:nvPr/>
        </p:nvSpPr>
        <p:spPr>
          <a:xfrm>
            <a:off x="54864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ample"/>
          <p:cNvSpPr/>
          <p:nvPr/>
        </p:nvSpPr>
        <p:spPr>
          <a:xfrm>
            <a:off x="822960" y="4983480"/>
            <a:ext cx="109728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148840" y="4206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Arrow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4617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Shift + 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4983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Pointing and flow diagrams</a:t>
            </a:r>
            <a:endParaRPr lang="en-US" sz="1400" dirty="0"/>
          </a:p>
        </p:txBody>
      </p:sp>
      <p:sp>
        <p:nvSpPr>
          <p:cNvPr id="23" name="Card Polygon"/>
          <p:cNvSpPr/>
          <p:nvPr/>
        </p:nvSpPr>
        <p:spPr>
          <a:xfrm>
            <a:off x="434340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ample"/>
          <p:cNvSpPr/>
          <p:nvPr/>
        </p:nvSpPr>
        <p:spPr>
          <a:xfrm>
            <a:off x="4617720" y="4434840"/>
            <a:ext cx="1097280" cy="1097280"/>
          </a:xfrm>
          <a:prstGeom prst="hexagon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0" y="4206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Polygon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4617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Toolbar menu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4983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Triangles and multi-sided shapes</a:t>
            </a:r>
            <a:endParaRPr lang="en-US" sz="1400" dirty="0"/>
          </a:p>
        </p:txBody>
      </p:sp>
      <p:sp>
        <p:nvSpPr>
          <p:cNvPr id="28" name="Card Star"/>
          <p:cNvSpPr/>
          <p:nvPr/>
        </p:nvSpPr>
        <p:spPr>
          <a:xfrm>
            <a:off x="813816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ample"/>
          <p:cNvSpPr/>
          <p:nvPr/>
        </p:nvSpPr>
        <p:spPr>
          <a:xfrm>
            <a:off x="8412480" y="4434840"/>
            <a:ext cx="1097280" cy="1097280"/>
          </a:xfrm>
          <a:prstGeom prst="star5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738360" y="4206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Star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4617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Toolbar menu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4983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Ratings and decoration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Fill, stroke and effects</a:t>
            </a:r>
            <a:endParaRPr lang="en-US" sz="3600" dirty="0"/>
          </a:p>
        </p:txBody>
      </p:sp>
      <p:sp>
        <p:nvSpPr>
          <p:cNvPr id="3" name="Card Fill"/>
          <p:cNvSpPr/>
          <p:nvPr/>
        </p:nvSpPr>
        <p:spPr>
          <a:xfrm>
            <a:off x="548640" y="1554480"/>
            <a:ext cx="34747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ill sample"/>
          <p:cNvSpPr/>
          <p:nvPr/>
        </p:nvSpPr>
        <p:spPr>
          <a:xfrm>
            <a:off x="1554480" y="182880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Fill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The color inside a shape.</a:t>
            </a:r>
            <a:endParaRPr lang="en-US" sz="1500" dirty="0"/>
          </a:p>
        </p:txBody>
      </p:sp>
      <p:sp>
        <p:nvSpPr>
          <p:cNvPr id="7" name="Card Stroke"/>
          <p:cNvSpPr/>
          <p:nvPr/>
        </p:nvSpPr>
        <p:spPr>
          <a:xfrm>
            <a:off x="4343400" y="1554480"/>
            <a:ext cx="34747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roke sample"/>
          <p:cNvSpPr/>
          <p:nvPr/>
        </p:nvSpPr>
        <p:spPr>
          <a:xfrm>
            <a:off x="5349240" y="182880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35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Stroke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Border color and thickness.</a:t>
            </a:r>
            <a:endParaRPr lang="en-US" sz="1500" dirty="0"/>
          </a:p>
        </p:txBody>
      </p:sp>
      <p:sp>
        <p:nvSpPr>
          <p:cNvPr id="11" name="Card Effects"/>
          <p:cNvSpPr/>
          <p:nvPr/>
        </p:nvSpPr>
        <p:spPr>
          <a:xfrm>
            <a:off x="8138160" y="1554480"/>
            <a:ext cx="34747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Effect sample"/>
          <p:cNvSpPr/>
          <p:nvPr/>
        </p:nvSpPr>
        <p:spPr>
          <a:xfrm>
            <a:off x="9144000" y="182880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582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Effects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A72"/>
                </a:solidFill>
              </a:rPr>
              <a:t>Drop shadow, inner shadow and blur.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Drawing tips</a:t>
            </a:r>
            <a:endParaRPr lang="en-US" sz="2000" dirty="0"/>
          </a:p>
        </p:txBody>
      </p:sp>
      <p:sp>
        <p:nvSpPr>
          <p:cNvPr id="16" name="Tip card"/>
          <p:cNvSpPr/>
          <p:nvPr/>
        </p:nvSpPr>
        <p:spPr>
          <a:xfrm>
            <a:off x="548640" y="4800600"/>
            <a:ext cx="347472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Shift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440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Keep proportions for a perfect square or circle.</a:t>
            </a:r>
            <a:endParaRPr lang="en-US" sz="1400" dirty="0"/>
          </a:p>
        </p:txBody>
      </p:sp>
      <p:sp>
        <p:nvSpPr>
          <p:cNvPr id="19" name="Tip card"/>
          <p:cNvSpPr/>
          <p:nvPr/>
        </p:nvSpPr>
        <p:spPr>
          <a:xfrm>
            <a:off x="4343400" y="4800600"/>
            <a:ext cx="347472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Alt / Option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5440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Draw the shape outward from its center.</a:t>
            </a:r>
            <a:endParaRPr lang="en-US" sz="1400" dirty="0"/>
          </a:p>
        </p:txBody>
      </p:sp>
      <p:sp>
        <p:nvSpPr>
          <p:cNvPr id="22" name="Tip card"/>
          <p:cNvSpPr/>
          <p:nvPr/>
        </p:nvSpPr>
        <p:spPr>
          <a:xfrm>
            <a:off x="8138160" y="4800600"/>
            <a:ext cx="347472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Corner radius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5440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Right panel setting for rounded buttons and cards.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Text tool and font styles</a:t>
            </a:r>
            <a:endParaRPr lang="en-US" sz="3600" dirty="0"/>
          </a:p>
        </p:txBody>
      </p:sp>
      <p:sp>
        <p:nvSpPr>
          <p:cNvPr id="3" name="Hierarchy card"/>
          <p:cNvSpPr/>
          <p:nvPr/>
        </p:nvSpPr>
        <p:spPr>
          <a:xfrm>
            <a:off x="548640" y="1554480"/>
            <a:ext cx="585216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Typical mobile size hierarchy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30352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Heading 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194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28–32 px · Bold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530352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154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Heading 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1546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22–24 px · Semi Bold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530352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1148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Body text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4114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16 px · Regular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5303520" cy="0"/>
          </a:xfrm>
          <a:prstGeom prst="line">
            <a:avLst/>
          </a:prstGeom>
          <a:noFill/>
          <a:ln w="12700">
            <a:solidFill>
              <a:srgbClr val="D9D4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074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5074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12–14 px · Regular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Text properties (press T)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0574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Font family: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E5A72"/>
                </a:solidFill>
              </a:rPr>
              <a:t>Inter, Roboto, Poppins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Font weight: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E5A72"/>
                </a:solidFill>
              </a:rPr>
              <a:t>Light to Bold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Font size: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E5A72"/>
                </a:solidFill>
              </a:rPr>
              <a:t>in px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Line height: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E5A72"/>
                </a:solidFill>
              </a:rPr>
              <a:t>about 120–150%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Letter spacing: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E5A72"/>
                </a:solidFill>
              </a:rPr>
              <a:t>space between letters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Alignment: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E5A72"/>
                </a:solidFill>
              </a:rPr>
              <a:t>left, center, 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Text case: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E5A72"/>
                </a:solidFill>
              </a:rPr>
              <a:t>upper, lower, Title</a:t>
            </a:r>
            <a:endParaRPr lang="en-US" sz="1500" dirty="0"/>
          </a:p>
        </p:txBody>
      </p:sp>
      <p:sp>
        <p:nvSpPr>
          <p:cNvPr id="19" name="Text styles callout"/>
          <p:cNvSpPr/>
          <p:nvPr/>
        </p:nvSpPr>
        <p:spPr>
          <a:xfrm>
            <a:off x="6675120" y="4754880"/>
            <a:ext cx="493776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49377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Save a Text Style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Select text, click the four dots next to Typography, then +. Edit once and every use updates.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Other essential tools</a:t>
            </a:r>
            <a:endParaRPr lang="en-US" sz="3600" dirty="0"/>
          </a:p>
        </p:txBody>
      </p:sp>
      <p:sp>
        <p:nvSpPr>
          <p:cNvPr id="3" name="Card Move"/>
          <p:cNvSpPr/>
          <p:nvPr/>
        </p:nvSpPr>
        <p:spPr>
          <a:xfrm>
            <a:off x="548640" y="1554480"/>
            <a:ext cx="539496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231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Move 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148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Select and move objects.</a:t>
            </a:r>
            <a:endParaRPr lang="en-US" sz="1400" dirty="0"/>
          </a:p>
        </p:txBody>
      </p:sp>
      <p:sp>
        <p:nvSpPr>
          <p:cNvPr id="8" name="Card Hand"/>
          <p:cNvSpPr/>
          <p:nvPr/>
        </p:nvSpPr>
        <p:spPr>
          <a:xfrm>
            <a:off x="6217920" y="1554480"/>
            <a:ext cx="539496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6492240" y="182880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02311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Hand 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 or Space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2148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Pan around the canvas.</a:t>
            </a:r>
            <a:endParaRPr lang="en-US" sz="1400" dirty="0"/>
          </a:p>
        </p:txBody>
      </p:sp>
      <p:sp>
        <p:nvSpPr>
          <p:cNvPr id="13" name="Card Pen"/>
          <p:cNvSpPr/>
          <p:nvPr/>
        </p:nvSpPr>
        <p:spPr>
          <a:xfrm>
            <a:off x="548640" y="3108960"/>
            <a:ext cx="539496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822960" y="33832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357759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Pen 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3703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Draw custom vector shapes and icons.</a:t>
            </a:r>
            <a:endParaRPr lang="en-US" sz="1400" dirty="0"/>
          </a:p>
        </p:txBody>
      </p:sp>
      <p:sp>
        <p:nvSpPr>
          <p:cNvPr id="18" name="Card Comment"/>
          <p:cNvSpPr/>
          <p:nvPr/>
        </p:nvSpPr>
        <p:spPr>
          <a:xfrm>
            <a:off x="6217920" y="3108960"/>
            <a:ext cx="539496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6492240" y="33832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357759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9808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Comment 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498080" y="3703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Leave feedback on the design.</a:t>
            </a:r>
            <a:endParaRPr lang="en-US" sz="1400" dirty="0"/>
          </a:p>
        </p:txBody>
      </p:sp>
      <p:sp>
        <p:nvSpPr>
          <p:cNvPr id="23" name="Card Components"/>
          <p:cNvSpPr/>
          <p:nvPr/>
        </p:nvSpPr>
        <p:spPr>
          <a:xfrm>
            <a:off x="548640" y="4663440"/>
            <a:ext cx="539496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822960" y="49377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" y="5132070"/>
            <a:ext cx="388620" cy="3886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82880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Components 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Ctrl/Cmd + Alt + K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1828800" y="5257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Reusable buttons and navbars. Change the main one and all copies update.</a:t>
            </a:r>
            <a:endParaRPr lang="en-US" sz="1400" dirty="0"/>
          </a:p>
        </p:txBody>
      </p:sp>
      <p:sp>
        <p:nvSpPr>
          <p:cNvPr id="28" name="Card Variants"/>
          <p:cNvSpPr/>
          <p:nvPr/>
        </p:nvSpPr>
        <p:spPr>
          <a:xfrm>
            <a:off x="6217920" y="4663440"/>
            <a:ext cx="539496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 circle"/>
          <p:cNvSpPr/>
          <p:nvPr/>
        </p:nvSpPr>
        <p:spPr>
          <a:xfrm>
            <a:off x="6492240" y="49377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0" y="5132070"/>
            <a:ext cx="388620" cy="3886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49808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Variants 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 components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7498080" y="5257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Different states: default, hover, pressed, disabled.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wireframe to mockup</a:t>
            </a:r>
            <a:endParaRPr lang="en-US" sz="3600" dirty="0"/>
          </a:p>
        </p:txBody>
      </p:sp>
      <p:sp>
        <p:nvSpPr>
          <p:cNvPr id="3" name="Card Build a wireframe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ard header"/>
          <p:cNvSpPr/>
          <p:nvPr/>
        </p:nvSpPr>
        <p:spPr>
          <a:xfrm>
            <a:off x="822960" y="1783080"/>
            <a:ext cx="4846320" cy="594360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Build a wireframe</a:t>
            </a:r>
            <a:endParaRPr lang="en-US" sz="2000" dirty="0"/>
          </a:p>
        </p:txBody>
      </p:sp>
      <p:sp>
        <p:nvSpPr>
          <p:cNvPr id="6" name="Badge 1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06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Press F and choose a phone frame such as iPhone 15.</a:t>
            </a:r>
            <a:endParaRPr lang="en-US" sz="1400" dirty="0"/>
          </a:p>
        </p:txBody>
      </p:sp>
      <p:sp>
        <p:nvSpPr>
          <p:cNvPr id="9" name="Badge 2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91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Draw rectangles (R) for header, content blocks and bottom navigation.</a:t>
            </a:r>
            <a:endParaRPr lang="en-US" sz="1400" dirty="0"/>
          </a:p>
        </p:txBody>
      </p:sp>
      <p:sp>
        <p:nvSpPr>
          <p:cNvPr id="12" name="Badge 3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977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grey fills only, like #E0E0E0 and #BDBDBD.</a:t>
            </a:r>
            <a:endParaRPr lang="en-US" sz="1400" dirty="0"/>
          </a:p>
        </p:txBody>
      </p:sp>
      <p:sp>
        <p:nvSpPr>
          <p:cNvPr id="15" name="Badge 4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634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placeholder text (T) and X-boxes for images.</a:t>
            </a:r>
            <a:endParaRPr lang="en-US" sz="1400" dirty="0"/>
          </a:p>
        </p:txBody>
      </p:sp>
      <p:sp>
        <p:nvSpPr>
          <p:cNvPr id="18" name="Badge 5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349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 the frame for each screen and name it clearly.</a:t>
            </a:r>
            <a:endParaRPr lang="en-US" sz="1400" dirty="0"/>
          </a:p>
        </p:txBody>
      </p:sp>
      <p:sp>
        <p:nvSpPr>
          <p:cNvPr id="21" name="Card Upgrade to a mockup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Card header"/>
          <p:cNvSpPr/>
          <p:nvPr/>
        </p:nvSpPr>
        <p:spPr>
          <a:xfrm>
            <a:off x="6492240" y="1783080"/>
            <a:ext cx="484632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1783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Upgrade to a mockup</a:t>
            </a:r>
            <a:endParaRPr lang="en-US" sz="2000" dirty="0"/>
          </a:p>
        </p:txBody>
      </p:sp>
      <p:sp>
        <p:nvSpPr>
          <p:cNvPr id="24" name="Badge 1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606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 your wireframe frames.</a:t>
            </a:r>
            <a:endParaRPr lang="en-US" sz="1400" dirty="0"/>
          </a:p>
        </p:txBody>
      </p:sp>
      <p:sp>
        <p:nvSpPr>
          <p:cNvPr id="27" name="Badge 2"/>
          <p:cNvSpPr/>
          <p:nvPr/>
        </p:nvSpPr>
        <p:spPr>
          <a:xfrm>
            <a:off x="6492240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3291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Apply your brand colors to the fills.</a:t>
            </a:r>
            <a:endParaRPr lang="en-US" sz="1400" dirty="0"/>
          </a:p>
        </p:txBody>
      </p:sp>
      <p:sp>
        <p:nvSpPr>
          <p:cNvPr id="30" name="Badge 3"/>
          <p:cNvSpPr/>
          <p:nvPr/>
        </p:nvSpPr>
        <p:spPr>
          <a:xfrm>
            <a:off x="649224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3977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Replace placeholders with real content and chosen fonts.</a:t>
            </a:r>
            <a:endParaRPr lang="en-US" sz="1400" dirty="0"/>
          </a:p>
        </p:txBody>
      </p:sp>
      <p:sp>
        <p:nvSpPr>
          <p:cNvPr id="33" name="Badge 4"/>
          <p:cNvSpPr/>
          <p:nvPr/>
        </p:nvSpPr>
        <p:spPr>
          <a:xfrm>
            <a:off x="64922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92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46634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real images, icons, shadows and rounded corners.</a:t>
            </a:r>
            <a:endParaRPr lang="en-US" sz="1400" dirty="0"/>
          </a:p>
        </p:txBody>
      </p:sp>
      <p:sp>
        <p:nvSpPr>
          <p:cNvPr id="36" name="Badge 5"/>
          <p:cNvSpPr/>
          <p:nvPr/>
        </p:nvSpPr>
        <p:spPr>
          <a:xfrm>
            <a:off x="6492240" y="5394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922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5349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 buttons and cards into components.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Making a prototype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548640" y="155448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 1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 the Prototype tab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Top of the right panel.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2811780" y="155448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 2"/>
          <p:cNvSpPr/>
          <p:nvPr/>
        </p:nvSpPr>
        <p:spPr>
          <a:xfrm>
            <a:off x="3040380" y="1783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403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040380" y="2514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Drag the blue handle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40380" y="3246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From a button to the destination frame.</a:t>
            </a:r>
            <a:endParaRPr lang="en-US" sz="1400" dirty="0"/>
          </a:p>
        </p:txBody>
      </p:sp>
      <p:sp>
        <p:nvSpPr>
          <p:cNvPr id="13" name="Step 3"/>
          <p:cNvSpPr/>
          <p:nvPr/>
        </p:nvSpPr>
        <p:spPr>
          <a:xfrm>
            <a:off x="5074920" y="155448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 3"/>
          <p:cNvSpPr/>
          <p:nvPr/>
        </p:nvSpPr>
        <p:spPr>
          <a:xfrm>
            <a:off x="5303520" y="1783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0352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514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 the interaction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246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Choose trigger, action and animation.</a:t>
            </a:r>
            <a:endParaRPr lang="en-US" sz="1400" dirty="0"/>
          </a:p>
        </p:txBody>
      </p:sp>
      <p:sp>
        <p:nvSpPr>
          <p:cNvPr id="18" name="Step 4"/>
          <p:cNvSpPr/>
          <p:nvPr/>
        </p:nvSpPr>
        <p:spPr>
          <a:xfrm>
            <a:off x="7338060" y="155448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 4"/>
          <p:cNvSpPr/>
          <p:nvPr/>
        </p:nvSpPr>
        <p:spPr>
          <a:xfrm>
            <a:off x="7566660" y="1783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6666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566660" y="2514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 a starting frame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66660" y="3246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Click the flow start ▶ icon.</a:t>
            </a:r>
            <a:endParaRPr lang="en-US" sz="1400" dirty="0"/>
          </a:p>
        </p:txBody>
      </p:sp>
      <p:sp>
        <p:nvSpPr>
          <p:cNvPr id="23" name="Step 5"/>
          <p:cNvSpPr/>
          <p:nvPr/>
        </p:nvSpPr>
        <p:spPr>
          <a:xfrm>
            <a:off x="9601200" y="155448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 5"/>
          <p:cNvSpPr/>
          <p:nvPr/>
        </p:nvSpPr>
        <p:spPr>
          <a:xfrm>
            <a:off x="9829800" y="1783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2980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2514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Present and share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3246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2"/>
                </a:solidFill>
              </a:rPr>
              <a:t>Test with Present, then share the link.</a:t>
            </a:r>
            <a:endParaRPr lang="en-US" sz="1400" dirty="0"/>
          </a:p>
        </p:txBody>
      </p:sp>
      <p:sp>
        <p:nvSpPr>
          <p:cNvPr id="28" name="Option card"/>
          <p:cNvSpPr/>
          <p:nvPr/>
        </p:nvSpPr>
        <p:spPr>
          <a:xfrm>
            <a:off x="548640" y="4343400"/>
            <a:ext cx="3474720" cy="178308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/>
        </p:spPr>
      </p:sp>
      <p:sp>
        <p:nvSpPr>
          <p:cNvPr id="29" name="Dot"/>
          <p:cNvSpPr/>
          <p:nvPr/>
        </p:nvSpPr>
        <p:spPr>
          <a:xfrm>
            <a:off x="822960" y="461772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34440" y="4526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Trigger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120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 click or tap · On drag · While hovering · After delay</a:t>
            </a:r>
            <a:endParaRPr lang="en-US" sz="1400" dirty="0"/>
          </a:p>
        </p:txBody>
      </p:sp>
      <p:sp>
        <p:nvSpPr>
          <p:cNvPr id="32" name="Option card"/>
          <p:cNvSpPr/>
          <p:nvPr/>
        </p:nvSpPr>
        <p:spPr>
          <a:xfrm>
            <a:off x="4343400" y="4343400"/>
            <a:ext cx="3474720" cy="178308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/>
        </p:spPr>
      </p:sp>
      <p:sp>
        <p:nvSpPr>
          <p:cNvPr id="33" name="Dot"/>
          <p:cNvSpPr/>
          <p:nvPr/>
        </p:nvSpPr>
        <p:spPr>
          <a:xfrm>
            <a:off x="4617720" y="4617720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29200" y="4526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Action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4617720" y="5120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Navigate to · Open overlay · Swap · Scroll to · Back</a:t>
            </a:r>
            <a:endParaRPr lang="en-US" sz="1400" dirty="0"/>
          </a:p>
        </p:txBody>
      </p:sp>
      <p:sp>
        <p:nvSpPr>
          <p:cNvPr id="36" name="Option card"/>
          <p:cNvSpPr/>
          <p:nvPr/>
        </p:nvSpPr>
        <p:spPr>
          <a:xfrm>
            <a:off x="8138160" y="4343400"/>
            <a:ext cx="3474720" cy="178308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/>
        </p:spPr>
      </p:sp>
      <p:sp>
        <p:nvSpPr>
          <p:cNvPr id="37" name="Dot"/>
          <p:cNvSpPr/>
          <p:nvPr/>
        </p:nvSpPr>
        <p:spPr>
          <a:xfrm>
            <a:off x="8412480" y="461772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823960" y="4526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Animation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5120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Instant · Dissolve · Smart animate · Move in · Push · Slide 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Shortcut cheat sheet</a:t>
            </a:r>
            <a:endParaRPr lang="en-US" sz="3600" dirty="0"/>
          </a:p>
        </p:txBody>
      </p:sp>
      <p:sp>
        <p:nvSpPr>
          <p:cNvPr id="3" name="Key Frame"/>
          <p:cNvSpPr/>
          <p:nvPr/>
        </p:nvSpPr>
        <p:spPr>
          <a:xfrm>
            <a:off x="548640" y="155448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Frame</a:t>
            </a:r>
            <a:endParaRPr lang="en-US" sz="1400" dirty="0"/>
          </a:p>
        </p:txBody>
      </p:sp>
      <p:sp>
        <p:nvSpPr>
          <p:cNvPr id="5" name="Keycap"/>
          <p:cNvSpPr/>
          <p:nvPr/>
        </p:nvSpPr>
        <p:spPr>
          <a:xfrm>
            <a:off x="731520" y="214884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sp>
        <p:nvSpPr>
          <p:cNvPr id="7" name="Key Rectangle"/>
          <p:cNvSpPr/>
          <p:nvPr/>
        </p:nvSpPr>
        <p:spPr>
          <a:xfrm>
            <a:off x="3383280" y="155448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616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Rectangle</a:t>
            </a:r>
            <a:endParaRPr lang="en-US" sz="1400" dirty="0"/>
          </a:p>
        </p:txBody>
      </p:sp>
      <p:sp>
        <p:nvSpPr>
          <p:cNvPr id="9" name="Keycap"/>
          <p:cNvSpPr/>
          <p:nvPr/>
        </p:nvSpPr>
        <p:spPr>
          <a:xfrm>
            <a:off x="3566160" y="214884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</a:t>
            </a:r>
            <a:endParaRPr lang="en-US" sz="2000" dirty="0"/>
          </a:p>
        </p:txBody>
      </p:sp>
      <p:sp>
        <p:nvSpPr>
          <p:cNvPr id="11" name="Key Ellipse"/>
          <p:cNvSpPr/>
          <p:nvPr/>
        </p:nvSpPr>
        <p:spPr>
          <a:xfrm>
            <a:off x="6217920" y="155448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Ellipse</a:t>
            </a:r>
            <a:endParaRPr lang="en-US" sz="1400" dirty="0"/>
          </a:p>
        </p:txBody>
      </p:sp>
      <p:sp>
        <p:nvSpPr>
          <p:cNvPr id="13" name="Keycap"/>
          <p:cNvSpPr/>
          <p:nvPr/>
        </p:nvSpPr>
        <p:spPr>
          <a:xfrm>
            <a:off x="6400800" y="214884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</a:t>
            </a:r>
            <a:endParaRPr lang="en-US" sz="2000" dirty="0"/>
          </a:p>
        </p:txBody>
      </p:sp>
      <p:sp>
        <p:nvSpPr>
          <p:cNvPr id="15" name="Key Line"/>
          <p:cNvSpPr/>
          <p:nvPr/>
        </p:nvSpPr>
        <p:spPr>
          <a:xfrm>
            <a:off x="9052560" y="155448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3544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Line</a:t>
            </a:r>
            <a:endParaRPr lang="en-US" sz="1400" dirty="0"/>
          </a:p>
        </p:txBody>
      </p:sp>
      <p:sp>
        <p:nvSpPr>
          <p:cNvPr id="17" name="Keycap"/>
          <p:cNvSpPr/>
          <p:nvPr/>
        </p:nvSpPr>
        <p:spPr>
          <a:xfrm>
            <a:off x="9235440" y="214884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</a:t>
            </a:r>
            <a:endParaRPr lang="en-US" sz="2000" dirty="0"/>
          </a:p>
        </p:txBody>
      </p:sp>
      <p:sp>
        <p:nvSpPr>
          <p:cNvPr id="19" name="Key Text"/>
          <p:cNvSpPr/>
          <p:nvPr/>
        </p:nvSpPr>
        <p:spPr>
          <a:xfrm>
            <a:off x="548640" y="310896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152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Text</a:t>
            </a:r>
            <a:endParaRPr lang="en-US" sz="1400" dirty="0"/>
          </a:p>
        </p:txBody>
      </p:sp>
      <p:sp>
        <p:nvSpPr>
          <p:cNvPr id="21" name="Keycap"/>
          <p:cNvSpPr/>
          <p:nvPr/>
        </p:nvSpPr>
        <p:spPr>
          <a:xfrm>
            <a:off x="731520" y="370332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</a:t>
            </a:r>
            <a:endParaRPr lang="en-US" sz="2000" dirty="0"/>
          </a:p>
        </p:txBody>
      </p:sp>
      <p:sp>
        <p:nvSpPr>
          <p:cNvPr id="23" name="Key Pen"/>
          <p:cNvSpPr/>
          <p:nvPr/>
        </p:nvSpPr>
        <p:spPr>
          <a:xfrm>
            <a:off x="3383280" y="310896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56616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Pen</a:t>
            </a:r>
            <a:endParaRPr lang="en-US" sz="1400" dirty="0"/>
          </a:p>
        </p:txBody>
      </p:sp>
      <p:sp>
        <p:nvSpPr>
          <p:cNvPr id="25" name="Keycap"/>
          <p:cNvSpPr/>
          <p:nvPr/>
        </p:nvSpPr>
        <p:spPr>
          <a:xfrm>
            <a:off x="3566160" y="370332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6616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</a:t>
            </a:r>
            <a:endParaRPr lang="en-US" sz="2000" dirty="0"/>
          </a:p>
        </p:txBody>
      </p:sp>
      <p:sp>
        <p:nvSpPr>
          <p:cNvPr id="27" name="Key Move"/>
          <p:cNvSpPr/>
          <p:nvPr/>
        </p:nvSpPr>
        <p:spPr>
          <a:xfrm>
            <a:off x="6217920" y="310896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0080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Move</a:t>
            </a:r>
            <a:endParaRPr lang="en-US" sz="1400" dirty="0"/>
          </a:p>
        </p:txBody>
      </p:sp>
      <p:sp>
        <p:nvSpPr>
          <p:cNvPr id="29" name="Keycap"/>
          <p:cNvSpPr/>
          <p:nvPr/>
        </p:nvSpPr>
        <p:spPr>
          <a:xfrm>
            <a:off x="6400800" y="370332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</a:t>
            </a:r>
            <a:endParaRPr lang="en-US" sz="2000" dirty="0"/>
          </a:p>
        </p:txBody>
      </p:sp>
      <p:sp>
        <p:nvSpPr>
          <p:cNvPr id="31" name="Key Auto Layout"/>
          <p:cNvSpPr/>
          <p:nvPr/>
        </p:nvSpPr>
        <p:spPr>
          <a:xfrm>
            <a:off x="9052560" y="310896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23544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Auto Layout</a:t>
            </a:r>
            <a:endParaRPr lang="en-US" sz="1400" dirty="0"/>
          </a:p>
        </p:txBody>
      </p:sp>
      <p:sp>
        <p:nvSpPr>
          <p:cNvPr id="33" name="Keycap"/>
          <p:cNvSpPr/>
          <p:nvPr/>
        </p:nvSpPr>
        <p:spPr>
          <a:xfrm>
            <a:off x="9235440" y="370332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3544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Shift + A</a:t>
            </a:r>
            <a:endParaRPr lang="en-US" sz="2000" dirty="0"/>
          </a:p>
        </p:txBody>
      </p:sp>
      <p:sp>
        <p:nvSpPr>
          <p:cNvPr id="35" name="Key Create component"/>
          <p:cNvSpPr/>
          <p:nvPr/>
        </p:nvSpPr>
        <p:spPr>
          <a:xfrm>
            <a:off x="548640" y="46634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31520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Create component</a:t>
            </a:r>
            <a:endParaRPr lang="en-US" sz="1400" dirty="0"/>
          </a:p>
        </p:txBody>
      </p:sp>
      <p:sp>
        <p:nvSpPr>
          <p:cNvPr id="37" name="Keycap"/>
          <p:cNvSpPr/>
          <p:nvPr/>
        </p:nvSpPr>
        <p:spPr>
          <a:xfrm>
            <a:off x="731520" y="525780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152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Ctrl/Cmd+Alt+K</a:t>
            </a:r>
            <a:endParaRPr lang="en-US" sz="1400" dirty="0"/>
          </a:p>
        </p:txBody>
      </p:sp>
      <p:sp>
        <p:nvSpPr>
          <p:cNvPr id="39" name="Key Group"/>
          <p:cNvSpPr/>
          <p:nvPr/>
        </p:nvSpPr>
        <p:spPr>
          <a:xfrm>
            <a:off x="3383280" y="46634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3566160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Group</a:t>
            </a:r>
            <a:endParaRPr lang="en-US" sz="1400" dirty="0"/>
          </a:p>
        </p:txBody>
      </p:sp>
      <p:sp>
        <p:nvSpPr>
          <p:cNvPr id="41" name="Keycap"/>
          <p:cNvSpPr/>
          <p:nvPr/>
        </p:nvSpPr>
        <p:spPr>
          <a:xfrm>
            <a:off x="3566160" y="525780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56616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Ctrl/Cmd + G</a:t>
            </a:r>
            <a:endParaRPr lang="en-US" sz="1400" dirty="0"/>
          </a:p>
        </p:txBody>
      </p:sp>
      <p:sp>
        <p:nvSpPr>
          <p:cNvPr id="43" name="Key Frame selection"/>
          <p:cNvSpPr/>
          <p:nvPr/>
        </p:nvSpPr>
        <p:spPr>
          <a:xfrm>
            <a:off x="6217920" y="46634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400800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Frame selection</a:t>
            </a:r>
            <a:endParaRPr lang="en-US" sz="1400" dirty="0"/>
          </a:p>
        </p:txBody>
      </p:sp>
      <p:sp>
        <p:nvSpPr>
          <p:cNvPr id="45" name="Keycap"/>
          <p:cNvSpPr/>
          <p:nvPr/>
        </p:nvSpPr>
        <p:spPr>
          <a:xfrm>
            <a:off x="6400800" y="525780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Ctrl/Cmd+Alt+G</a:t>
            </a:r>
            <a:endParaRPr lang="en-US" sz="1400" dirty="0"/>
          </a:p>
        </p:txBody>
      </p:sp>
      <p:sp>
        <p:nvSpPr>
          <p:cNvPr id="47" name="Key Zoom to fit"/>
          <p:cNvSpPr/>
          <p:nvPr/>
        </p:nvSpPr>
        <p:spPr>
          <a:xfrm>
            <a:off x="9052560" y="46634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9235440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5A72"/>
                </a:solidFill>
              </a:rPr>
              <a:t>Zoom to fit</a:t>
            </a:r>
            <a:endParaRPr lang="en-US" sz="1400" dirty="0"/>
          </a:p>
        </p:txBody>
      </p:sp>
      <p:sp>
        <p:nvSpPr>
          <p:cNvPr id="49" name="Keycap"/>
          <p:cNvSpPr/>
          <p:nvPr/>
        </p:nvSpPr>
        <p:spPr>
          <a:xfrm>
            <a:off x="9235440" y="525780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23544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Shift + 1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5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Key takeaways</a:t>
            </a:r>
            <a:endParaRPr lang="en-US" sz="3800" dirty="0"/>
          </a:p>
        </p:txBody>
      </p:sp>
      <p:sp>
        <p:nvSpPr>
          <p:cNvPr id="3" name="Takeaway row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9091"/>
            </a:avLst>
          </a:prstGeom>
          <a:solidFill>
            <a:schemeClr val="accent6">
              <a:alpha val="30000"/>
            </a:schemeClr>
          </a:solidFill>
          <a:ln/>
        </p:spPr>
      </p:sp>
      <p:sp>
        <p:nvSpPr>
          <p:cNvPr id="4" name="Badge 1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00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Wireframe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6002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Plan the structure with grey boxes.</a:t>
            </a:r>
            <a:endParaRPr lang="en-US" sz="1800" dirty="0"/>
          </a:p>
        </p:txBody>
      </p:sp>
      <p:sp>
        <p:nvSpPr>
          <p:cNvPr id="8" name="Takeaway row"/>
          <p:cNvSpPr/>
          <p:nvPr/>
        </p:nvSpPr>
        <p:spPr>
          <a:xfrm>
            <a:off x="548640" y="2788920"/>
            <a:ext cx="11064240" cy="1005840"/>
          </a:xfrm>
          <a:prstGeom prst="roundRect">
            <a:avLst>
              <a:gd name="adj" fmla="val 9091"/>
            </a:avLst>
          </a:prstGeom>
          <a:solidFill>
            <a:schemeClr val="accent6">
              <a:alpha val="30000"/>
            </a:schemeClr>
          </a:solidFill>
          <a:ln/>
        </p:spPr>
      </p:sp>
      <p:sp>
        <p:nvSpPr>
          <p:cNvPr id="9" name="Badge 2"/>
          <p:cNvSpPr/>
          <p:nvPr/>
        </p:nvSpPr>
        <p:spPr>
          <a:xfrm>
            <a:off x="822960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788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Mockup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889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Add color, fonts, images and polish.</a:t>
            </a:r>
            <a:endParaRPr lang="en-US" sz="1800" dirty="0"/>
          </a:p>
        </p:txBody>
      </p:sp>
      <p:sp>
        <p:nvSpPr>
          <p:cNvPr id="13" name="Takeaway row"/>
          <p:cNvSpPr/>
          <p:nvPr/>
        </p:nvSpPr>
        <p:spPr>
          <a:xfrm>
            <a:off x="548640" y="3977640"/>
            <a:ext cx="11064240" cy="1005840"/>
          </a:xfrm>
          <a:prstGeom prst="roundRect">
            <a:avLst>
              <a:gd name="adj" fmla="val 9091"/>
            </a:avLst>
          </a:prstGeom>
          <a:solidFill>
            <a:schemeClr val="accent6">
              <a:alpha val="30000"/>
            </a:schemeClr>
          </a:solidFill>
          <a:ln/>
        </p:spPr>
      </p:sp>
      <p:sp>
        <p:nvSpPr>
          <p:cNvPr id="14" name="Badge 3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977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Prototype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9776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Link screens so it can be clicked.</a:t>
            </a:r>
            <a:endParaRPr lang="en-US" sz="1800" dirty="0"/>
          </a:p>
        </p:txBody>
      </p:sp>
      <p:sp>
        <p:nvSpPr>
          <p:cNvPr id="18" name="Practice box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Practice: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design a login screen as a wireframe, turn it into a mockup, then link it to a Home screen.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gma Basics">
  <a:themeElements>
    <a:clrScheme name="Figma Basics">
      <a:dk1>
        <a:srgbClr val="1E1B2E"/>
      </a:dk1>
      <a:lt1>
        <a:srgbClr val="FFFFFF"/>
      </a:lt1>
      <a:dk2>
        <a:srgbClr val="3B2F63"/>
      </a:dk2>
      <a:lt2>
        <a:srgbClr val="F4F1FA"/>
      </a:lt2>
      <a:accent1>
        <a:srgbClr val="F24E1E"/>
      </a:accent1>
      <a:accent2>
        <a:srgbClr val="7C3AED"/>
      </a:accent2>
      <a:accent3>
        <a:srgbClr val="0E9F6E"/>
      </a:accent3>
      <a:accent4>
        <a:srgbClr val="1ABCFE"/>
      </a:accent4>
      <a:accent5>
        <a:srgbClr val="FFC700"/>
      </a:accent5>
      <a:accent6>
        <a:srgbClr val="6B6880"/>
      </a:accent6>
      <a:hlink>
        <a:srgbClr val="7C3AED"/>
      </a:hlink>
      <a:folHlink>
        <a:srgbClr val="6B6880"/>
      </a:folHlink>
    </a:clrScheme>
    <a:fontScheme name="Figma Bas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Figma Basics: Wireframe, Mockup &amp; Prototype</dc:title>
  <dc:subject>PptxGenJS Presentation</dc:subject>
  <dc:creator>PptxGenJS</dc:creator>
  <cp:lastModifiedBy>PptxGenJS</cp:lastModifiedBy>
  <cp:revision>1</cp:revision>
  <dcterms:created xsi:type="dcterms:W3CDTF">2026-10-08T07:46:51Z</dcterms:created>
  <dcterms:modified xsi:type="dcterms:W3CDTF">2026-10-08T07:46:51Z</dcterms:modified>
</cp:coreProperties>
</file>